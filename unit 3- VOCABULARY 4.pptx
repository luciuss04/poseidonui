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0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303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4" r:id="rId51"/>
  </p:sldIdLst>
  <p:sldSz cx="9144000" cy="6858000" type="screen4x3"/>
  <p:notesSz cx="7559675" cy="10691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71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798BF80-37AB-4780-A1B2-C1BAD304819C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393C352-6B97-4CD6-8DCF-796E3975D260}" type="slidenum">
              <a:t>‹Nº›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5EEA65E-D8DE-41B8-9794-904A8EFC6AEA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BB79082-212D-4088-A435-184ACBDD9B8C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167DD8C-40ED-478B-BA1B-58F2C4E2937E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6684548-6E5D-4652-8DDA-A44772147168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9B022AF-4783-4973-89D8-EB675B8E40E2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5D701BF-EC42-49E1-A5D0-E7C57A80ABAA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F0466E-EB5E-4409-B435-4587DFFB2941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A1B2E89-E7E7-442E-90A8-3D6C82BBA82A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7838B9F-8873-4E78-AE9F-0D186B702458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E12AE94-11D3-4D6F-B474-B5819715299C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&lt;fecha/hora&gt;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596B8A0-5110-4E1C-895F-BA2DB107C0DE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‹Nº›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Pulse para editar el formato del texto de título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/>
        </p:nvSpPr>
        <p:spPr>
          <a:xfrm>
            <a:off x="914580" y="1838093"/>
            <a:ext cx="7314839" cy="1446550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n-US" dirty="0"/>
          </a:p>
          <a:p>
            <a:pPr algn="ctr">
              <a:defRPr sz="2000" b="1"/>
            </a:pPr>
            <a:r>
              <a:rPr lang="en-US" sz="4800" dirty="0"/>
              <a:t>UNIT 3- VOCABULARY 4</a:t>
            </a:r>
          </a:p>
          <a:p>
            <a:pPr algn="ctr">
              <a:defRPr sz="2000" b="1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54F9CD-DF74-E9C5-75AA-6A867A17C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2">
            <a:extLst>
              <a:ext uri="{FF2B5EF4-FFF2-40B4-BE49-F238E27FC236}">
                <a16:creationId xmlns:a16="http://schemas.microsoft.com/office/drawing/2014/main" id="{229B2625-5F80-E7EC-84F5-786801467056}"/>
              </a:ext>
            </a:extLst>
          </p:cNvPr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 dirty="0">
                <a:solidFill>
                  <a:srgbClr val="000000"/>
                </a:solidFill>
                <a:latin typeface="Calibri"/>
              </a:rPr>
              <a:t>attachments - </a:t>
            </a:r>
            <a:r>
              <a:rPr lang="en-US" sz="4000" b="1" strike="noStrike" spc="-1" dirty="0" err="1">
                <a:solidFill>
                  <a:srgbClr val="000000"/>
                </a:solidFill>
                <a:latin typeface="Calibri"/>
              </a:rPr>
              <a:t>archivos</a:t>
            </a:r>
            <a:r>
              <a:rPr lang="en-US" sz="4000" b="1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4000" b="1" strike="noStrike" spc="-1" dirty="0" err="1">
                <a:solidFill>
                  <a:srgbClr val="000000"/>
                </a:solidFill>
                <a:latin typeface="Calibri"/>
              </a:rPr>
              <a:t>adjuntos</a:t>
            </a:r>
            <a:endParaRPr lang="es-E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Box 3">
            <a:extLst>
              <a:ext uri="{FF2B5EF4-FFF2-40B4-BE49-F238E27FC236}">
                <a16:creationId xmlns:a16="http://schemas.microsoft.com/office/drawing/2014/main" id="{708242D5-253D-CB11-794D-F1335C6B5EE2}"/>
              </a:ext>
            </a:extLst>
          </p:cNvPr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s-ES" sz="2800" b="0" strike="noStrike" spc="-1">
                <a:solidFill>
                  <a:srgbClr val="000000"/>
                </a:solidFill>
                <a:latin typeface="Calibri"/>
              </a:rPr>
              <a:t>Please check the attachments.</a:t>
            </a:r>
            <a:br>
              <a:rPr lang="es-ES" sz="2800"/>
            </a:br>
            <a:r>
              <a:rPr lang="es-ES" sz="2800" b="0" strike="noStrike" spc="-1">
                <a:solidFill>
                  <a:srgbClr val="000000"/>
                </a:solidFill>
                <a:latin typeface="Calibri"/>
              </a:rPr>
              <a:t>Por favor, revisa los archivos adjuntos.</a:t>
            </a:r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4D21F5-C1F8-EF32-8CBB-3E98CE1012D4}"/>
              </a:ext>
            </a:extLst>
          </p:cNvPr>
          <p:cNvSpPr txBox="1"/>
          <p:nvPr/>
        </p:nvSpPr>
        <p:spPr>
          <a:xfrm>
            <a:off x="914580" y="3653640"/>
            <a:ext cx="7314839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n-US" dirty="0"/>
          </a:p>
          <a:p>
            <a:pPr algn="ctr">
              <a:defRPr sz="2000" b="1"/>
            </a:pPr>
            <a:r>
              <a:rPr lang="en-US" dirty="0"/>
              <a:t>Files that are sent along with an email message</a:t>
            </a:r>
          </a:p>
          <a:p>
            <a:pPr algn="ctr">
              <a:defRPr sz="2000" b="1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54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 dirty="0">
                <a:solidFill>
                  <a:srgbClr val="000000"/>
                </a:solidFill>
                <a:latin typeface="Calibri"/>
              </a:rPr>
              <a:t>authorized - </a:t>
            </a:r>
            <a:r>
              <a:rPr lang="en-US" sz="4000" b="1" strike="noStrike" spc="-1" dirty="0" err="1">
                <a:solidFill>
                  <a:srgbClr val="000000"/>
                </a:solidFill>
                <a:latin typeface="Calibri"/>
              </a:rPr>
              <a:t>autorizado</a:t>
            </a:r>
            <a:endParaRPr lang="es-E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Box 3"/>
          <p:cNvSpPr/>
          <p:nvPr/>
        </p:nvSpPr>
        <p:spPr>
          <a:xfrm>
            <a:off x="1029060" y="221184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Only authorized users can enter.</a:t>
            </a:r>
            <a:br>
              <a:rPr sz="2800" dirty="0"/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Solo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los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usuarios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autorizados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pueden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entrar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14580" y="3653640"/>
            <a:ext cx="7429320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Having official permission to do or access something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build="allAtOnce" animBg="1"/>
      <p:bldP spid="4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BCC - Copia oculta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Send this email with BCC.</a:t>
            </a:r>
            <a:br>
              <a:rPr sz="2800" dirty="0"/>
            </a:b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Envía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este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correo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con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copia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oculta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14580" y="3653640"/>
            <a:ext cx="7314840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A feature that hides recipients from each other in an email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CC - Con copia a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I added you in CC.</a:t>
            </a:r>
            <a:br>
              <a:rPr sz="2800" dirty="0"/>
            </a:b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Te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agregué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en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copia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14580" y="3653640"/>
            <a:ext cx="7461977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A way to send a copy of an email to additional recipients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chain mail - correo en cadena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Do not send chain mail.</a:t>
            </a:r>
            <a:br>
              <a:rPr sz="2800" dirty="0"/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No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envíes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correos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en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cadena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14580" y="3653640"/>
            <a:ext cx="7247497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Messages that encourage users to forward them to others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 animBg="1"/>
      <p:bldP spid="5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confidential - confidencial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This document is confidential.</a:t>
            </a:r>
            <a:br>
              <a:rPr sz="2800" dirty="0"/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Este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documento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es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confidencial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14580" y="3653640"/>
            <a:ext cx="7494634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rPr dirty="0"/>
              <a:t>Meant to be kept secret or private.</a:t>
            </a:r>
            <a:endParaRPr lang="es-ES" dirty="0"/>
          </a:p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5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coworker - compañero de trabajo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My coworker helped me.</a:t>
            </a:r>
            <a:br>
              <a:rPr sz="2800" dirty="0"/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Mi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compañero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de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trabajo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me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ayudó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14580" y="3653640"/>
            <a:ext cx="7445649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A person you work with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 animBg="1"/>
      <p:bldP spid="6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2"/>
          <p:cNvSpPr/>
          <p:nvPr/>
        </p:nvSpPr>
        <p:spPr>
          <a:xfrm>
            <a:off x="914580" y="914400"/>
            <a:ext cx="7314840" cy="158292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 dirty="0">
                <a:solidFill>
                  <a:srgbClr val="000000"/>
                </a:solidFill>
                <a:latin typeface="Calibri"/>
              </a:rPr>
              <a:t>e-mail messages - </a:t>
            </a:r>
            <a:r>
              <a:rPr lang="en-US" sz="4000" b="1" strike="noStrike" spc="-1" dirty="0" err="1">
                <a:solidFill>
                  <a:srgbClr val="000000"/>
                </a:solidFill>
                <a:latin typeface="Calibri"/>
              </a:rPr>
              <a:t>mensajes</a:t>
            </a:r>
            <a:r>
              <a:rPr lang="en-US" sz="4000" b="1" strike="noStrike" spc="-1" dirty="0">
                <a:solidFill>
                  <a:srgbClr val="000000"/>
                </a:solidFill>
                <a:latin typeface="Calibri"/>
              </a:rPr>
              <a:t> de </a:t>
            </a:r>
            <a:r>
              <a:rPr lang="en-US" sz="4000" b="1" strike="noStrike" spc="-1" dirty="0" err="1">
                <a:solidFill>
                  <a:srgbClr val="000000"/>
                </a:solidFill>
                <a:latin typeface="Calibri"/>
              </a:rPr>
              <a:t>correo</a:t>
            </a:r>
            <a:r>
              <a:rPr lang="en-US" sz="4000" b="1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4000" b="1" strike="noStrike" spc="-1" dirty="0" err="1">
                <a:solidFill>
                  <a:srgbClr val="000000"/>
                </a:solidFill>
                <a:latin typeface="Calibri"/>
              </a:rPr>
              <a:t>electrónico</a:t>
            </a:r>
            <a:endParaRPr lang="es-E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3"/>
          <p:cNvSpPr/>
          <p:nvPr/>
        </p:nvSpPr>
        <p:spPr>
          <a:xfrm>
            <a:off x="914580" y="277164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I received many e-mail messages today.</a:t>
            </a:r>
            <a:br>
              <a:rPr sz="2800" dirty="0"/>
            </a:b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Recibí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muchos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correos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hoy.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14580" y="4263120"/>
            <a:ext cx="7314839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Messages sent electronically using email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6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2"/>
          <p:cNvSpPr/>
          <p:nvPr/>
        </p:nvSpPr>
        <p:spPr>
          <a:xfrm>
            <a:off x="914580" y="914400"/>
            <a:ext cx="7314840" cy="158292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 dirty="0">
                <a:solidFill>
                  <a:srgbClr val="000000"/>
                </a:solidFill>
                <a:latin typeface="Calibri"/>
              </a:rPr>
              <a:t>e-mail virus protection - </a:t>
            </a:r>
            <a:r>
              <a:rPr lang="en-US" sz="4000" b="1" strike="noStrike" spc="-1" dirty="0" err="1">
                <a:solidFill>
                  <a:srgbClr val="000000"/>
                </a:solidFill>
                <a:latin typeface="Calibri"/>
              </a:rPr>
              <a:t>protección</a:t>
            </a:r>
            <a:r>
              <a:rPr lang="en-US" sz="4000" b="1" strike="noStrike" spc="-1" dirty="0">
                <a:solidFill>
                  <a:srgbClr val="000000"/>
                </a:solidFill>
                <a:latin typeface="Calibri"/>
              </a:rPr>
              <a:t> contra virus de </a:t>
            </a:r>
            <a:r>
              <a:rPr lang="en-US" sz="4000" b="1" strike="noStrike" spc="-1" dirty="0" err="1">
                <a:solidFill>
                  <a:srgbClr val="000000"/>
                </a:solidFill>
                <a:latin typeface="Calibri"/>
              </a:rPr>
              <a:t>correo</a:t>
            </a:r>
            <a:endParaRPr lang="es-E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914580" y="277164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Install e-mail virus protection.</a:t>
            </a:r>
            <a:br>
              <a:rPr sz="2800"/>
            </a:b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Instala protección contra virus de correo.</a:t>
            </a:r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14580" y="4263120"/>
            <a:ext cx="7445649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Software that protects email from malicious viruses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7" grpId="0" animBg="1"/>
      <p:bldP spid="6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encrypt - cifrar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Encrypt your files for security.</a:t>
            </a:r>
            <a:br>
              <a:rPr sz="2800"/>
            </a:b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Cifra tus archivos para mayor seguridad.</a:t>
            </a:r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914580" y="3653640"/>
            <a:ext cx="7494634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To change information into a secret code to keep it secure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7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encryption - cifrado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Encryption keeps your data safe.</a:t>
            </a:r>
            <a:br>
              <a:rPr sz="2800" dirty="0"/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El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cifrado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mantiene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tus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datos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seguros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14580" y="3653640"/>
            <a:ext cx="7429320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rPr dirty="0"/>
              <a:t>The process of converting information into</a:t>
            </a:r>
            <a:endParaRPr lang="es-ES" dirty="0"/>
          </a:p>
          <a:p>
            <a:pPr algn="ctr">
              <a:defRPr sz="2000" b="1"/>
            </a:pPr>
            <a:r>
              <a:rPr dirty="0"/>
              <a:t> code to protect it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7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junk mail - correo no deseado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Delete junk mail immediately.</a:t>
            </a:r>
            <a:br>
              <a:rPr sz="2800" dirty="0"/>
            </a:b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Elimina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el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correo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no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deseado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inmediatamente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914579" y="3653640"/>
            <a:ext cx="7314839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Unwanted or spam email messages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6" grpId="0" animBg="1"/>
      <p:bldP spid="7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offensive - ofensivo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Offensive messages are prohibited.</a:t>
            </a:r>
            <a:br>
              <a:rPr sz="2800" dirty="0"/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Los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mensajes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ofensivos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están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prohibidos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14580" y="3653640"/>
            <a:ext cx="7314840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Rude, insulting, or inappropriate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  <p:bldP spid="8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unauthorized - no autorizado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Unauthorized access is forbidden.</a:t>
            </a:r>
            <a:br>
              <a:rPr sz="2800" dirty="0"/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El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acceso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no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autorizado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está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prohibido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14579" y="3653640"/>
            <a:ext cx="7314839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Not allowed or without permission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2" grpId="0" animBg="1"/>
      <p:bldP spid="8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2"/>
          <p:cNvSpPr/>
          <p:nvPr/>
        </p:nvSpPr>
        <p:spPr>
          <a:xfrm>
            <a:off x="914580" y="914400"/>
            <a:ext cx="7314840" cy="158292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 dirty="0">
                <a:solidFill>
                  <a:srgbClr val="000000"/>
                </a:solidFill>
                <a:latin typeface="Calibri"/>
              </a:rPr>
              <a:t>authorized personnel - personal </a:t>
            </a:r>
            <a:r>
              <a:rPr lang="en-US" sz="4000" b="1" strike="noStrike" spc="-1" dirty="0" err="1">
                <a:solidFill>
                  <a:srgbClr val="000000"/>
                </a:solidFill>
                <a:latin typeface="Calibri"/>
              </a:rPr>
              <a:t>autorizado</a:t>
            </a:r>
            <a:endParaRPr lang="es-E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914580" y="277164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Only authorized personnel can enter.</a:t>
            </a:r>
            <a:br>
              <a:rPr sz="2800"/>
            </a:b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Solo personal autorizado puede entrar.</a:t>
            </a:r>
            <a:endParaRPr lang="es-E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914581" y="4263120"/>
            <a:ext cx="7381880" cy="1323439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People who have permission to be in a place or use </a:t>
            </a:r>
            <a:endParaRPr lang="es-ES" dirty="0"/>
          </a:p>
          <a:p>
            <a:pPr algn="ctr">
              <a:defRPr sz="2000" b="1"/>
            </a:pPr>
            <a:r>
              <a:rPr lang="es-ES" dirty="0"/>
              <a:t>S</a:t>
            </a:r>
            <a:r>
              <a:rPr dirty="0" err="1"/>
              <a:t>omething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5" grpId="0" animBg="1"/>
      <p:bldP spid="8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building - edificio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The building is secure.</a:t>
            </a:r>
            <a:br>
              <a:rPr sz="2800" dirty="0"/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El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edificio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es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seguro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14580" y="3653640"/>
            <a:ext cx="7314840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A structure with walls and a roof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 animBg="1"/>
      <p:bldP spid="8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day-to-day - día a día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Plan your day-to-day activities.</a:t>
            </a:r>
            <a:br>
              <a:rPr sz="2800" dirty="0"/>
            </a:b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Planifica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tus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actividades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diarias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914580" y="3653640"/>
            <a:ext cx="7314839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Regular, everyday activities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  <p:bldP spid="91" grpId="0" animBg="1"/>
      <p:bldP spid="9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document - documento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Sign the document.</a:t>
            </a:r>
            <a:br>
              <a:rPr sz="2800" dirty="0"/>
            </a:b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Firma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el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documento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914579" y="3653640"/>
            <a:ext cx="7314839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A written or digital file with information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94" grpId="0" animBg="1"/>
      <p:bldP spid="9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entrance - entrada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The entrance is on the left.</a:t>
            </a:r>
            <a:br>
              <a:rPr sz="2800" dirty="0"/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La entrada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está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a la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izquierda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914579" y="3653640"/>
            <a:ext cx="7314839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A place where you can enter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7" grpId="0" animBg="1"/>
      <p:bldP spid="9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generator - generador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The generator failed.</a:t>
            </a:r>
            <a:br>
              <a:rPr sz="2800" dirty="0"/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El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generador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falló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914579" y="3653640"/>
            <a:ext cx="7314839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A machine that produces electricity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00" grpId="0" animBg="1"/>
      <p:bldP spid="10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notify - notificar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Notify me immediately.</a:t>
            </a:r>
            <a:br>
              <a:rPr sz="2800" dirty="0"/>
            </a:b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Notifícame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inmediatamente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914580" y="3653640"/>
            <a:ext cx="7314840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To inform someone about something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03" grpId="0" animBg="1"/>
      <p:bldP spid="10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2"/>
          <p:cNvSpPr/>
          <p:nvPr/>
        </p:nvSpPr>
        <p:spPr>
          <a:xfrm>
            <a:off x="914580" y="914400"/>
            <a:ext cx="7314840" cy="158292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paper shredder - trituradora de papel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914580" y="277164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Use the paper shredder for this.</a:t>
            </a:r>
            <a:br>
              <a:rPr sz="2800" dirty="0"/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Usa la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trituradora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de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papel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para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esto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914579" y="4263120"/>
            <a:ext cx="7314839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A machine that cuts paper into small pieces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  <p:bldP spid="106" grpId="0" animBg="1"/>
      <p:bldP spid="10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parameters - parámetros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Set the correct parameters.</a:t>
            </a:r>
            <a:br>
              <a:rPr sz="2800" dirty="0"/>
            </a:b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Configura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los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parámetros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correctos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914580" y="3653640"/>
            <a:ext cx="7314840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Limits or rules that control how something </a:t>
            </a:r>
            <a:r>
              <a:rPr lang="es-ES" dirty="0"/>
              <a:t>W</a:t>
            </a:r>
            <a:r>
              <a:rPr dirty="0"/>
              <a:t>orks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109" grpId="0" animBg="1"/>
      <p:bldP spid="1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2"/>
          <p:cNvSpPr/>
          <p:nvPr/>
        </p:nvSpPr>
        <p:spPr>
          <a:xfrm>
            <a:off x="914580" y="914400"/>
            <a:ext cx="7314840" cy="158292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personal information - información personal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3"/>
          <p:cNvSpPr/>
          <p:nvPr/>
        </p:nvSpPr>
        <p:spPr>
          <a:xfrm>
            <a:off x="914580" y="277164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Do not share personal information.</a:t>
            </a:r>
            <a:br>
              <a:rPr sz="2800" dirty="0"/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No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compartas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información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personal.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914580" y="4263120"/>
            <a:ext cx="7314840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Private details about a person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animBg="1"/>
      <p:bldP spid="112" grpId="0" animBg="1"/>
      <p:bldP spid="1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regularly - regularmente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Update the system regularly.</a:t>
            </a:r>
            <a:br>
              <a:rPr sz="2800" dirty="0"/>
            </a:b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Actualiza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el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sistema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regularmente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914580" y="3653640"/>
            <a:ext cx="7314840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Often or at set times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 animBg="1"/>
      <p:bldP spid="115" grpId="0" animBg="1"/>
      <p:bldP spid="1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report - informar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Report any problems.</a:t>
            </a:r>
            <a:br>
              <a:rPr sz="2800" dirty="0"/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Informa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cualquier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problema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914579" y="3653640"/>
            <a:ext cx="7314839" cy="1323439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To give information about something or </a:t>
            </a:r>
            <a:endParaRPr lang="es-ES" dirty="0"/>
          </a:p>
          <a:p>
            <a:pPr algn="ctr">
              <a:defRPr sz="2000" b="1"/>
            </a:pPr>
            <a:r>
              <a:rPr dirty="0"/>
              <a:t>make it known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animBg="1"/>
      <p:bldP spid="118" grpId="0" animBg="1"/>
      <p:bldP spid="1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run cables - tender cables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Technicians run cables in the office.</a:t>
            </a:r>
            <a:br>
              <a:rPr sz="2800" dirty="0"/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Los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técnicos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tienden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cables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en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la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oficina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914580" y="3653640"/>
            <a:ext cx="7314839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To install and connect cables in a building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  <p:bldP spid="121" grpId="0" animBg="1"/>
      <p:bldP spid="12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safe - seguro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The area is safe.</a:t>
            </a:r>
            <a:br>
              <a:rPr sz="2800" dirty="0"/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El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área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es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segura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914580" y="3653640"/>
            <a:ext cx="7314840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Free from danger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animBg="1"/>
      <p:bldP spid="124" grpId="0" animBg="1"/>
      <p:bldP spid="1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2"/>
          <p:cNvSpPr/>
          <p:nvPr/>
        </p:nvSpPr>
        <p:spPr>
          <a:xfrm>
            <a:off x="914580" y="914400"/>
            <a:ext cx="7314840" cy="158292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 dirty="0">
                <a:solidFill>
                  <a:srgbClr val="000000"/>
                </a:solidFill>
                <a:latin typeface="Calibri"/>
              </a:rPr>
              <a:t>show someone around - </a:t>
            </a:r>
            <a:r>
              <a:rPr lang="en-US" sz="4000" b="1" strike="noStrike" spc="-1" dirty="0" err="1">
                <a:solidFill>
                  <a:srgbClr val="000000"/>
                </a:solidFill>
                <a:latin typeface="Calibri"/>
              </a:rPr>
              <a:t>mostrar</a:t>
            </a:r>
            <a:r>
              <a:rPr lang="en-US" sz="4000" b="1" strike="noStrike" spc="-1" dirty="0">
                <a:solidFill>
                  <a:srgbClr val="000000"/>
                </a:solidFill>
                <a:latin typeface="Calibri"/>
              </a:rPr>
              <a:t> a </a:t>
            </a:r>
            <a:r>
              <a:rPr lang="en-US" sz="4000" b="1" strike="noStrike" spc="-1" dirty="0" err="1">
                <a:solidFill>
                  <a:srgbClr val="000000"/>
                </a:solidFill>
                <a:latin typeface="Calibri"/>
              </a:rPr>
              <a:t>alguien</a:t>
            </a:r>
            <a:endParaRPr lang="es-E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914580" y="277164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I will show someone around the office.</a:t>
            </a:r>
            <a:br>
              <a:rPr sz="2800" dirty="0"/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Le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mostraré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la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oficina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a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alguien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914580" y="4263120"/>
            <a:ext cx="7314839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To guide someone through a place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animBg="1"/>
      <p:bldP spid="127" grpId="0" animBg="1"/>
      <p:bldP spid="1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2"/>
          <p:cNvSpPr/>
          <p:nvPr/>
        </p:nvSpPr>
        <p:spPr>
          <a:xfrm>
            <a:off x="914580" y="914400"/>
            <a:ext cx="7314840" cy="158292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 dirty="0">
                <a:solidFill>
                  <a:srgbClr val="000000"/>
                </a:solidFill>
                <a:latin typeface="Calibri"/>
              </a:rPr>
              <a:t>specialized software - software </a:t>
            </a:r>
            <a:r>
              <a:rPr lang="en-US" sz="4000" b="1" strike="noStrike" spc="-1" dirty="0" err="1">
                <a:solidFill>
                  <a:srgbClr val="000000"/>
                </a:solidFill>
                <a:latin typeface="Calibri"/>
              </a:rPr>
              <a:t>especializado</a:t>
            </a:r>
            <a:endParaRPr lang="es-E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914580" y="277164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We need specialized software.</a:t>
            </a:r>
            <a:br>
              <a:rPr sz="2800" dirty="0"/>
            </a:b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Necesitamos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software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especializado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914580" y="4263120"/>
            <a:ext cx="7314840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Software designed for a specific task or purpose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nimBg="1"/>
      <p:bldP spid="130" grpId="0" animBg="1"/>
      <p:bldP spid="1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2"/>
          <p:cNvSpPr/>
          <p:nvPr/>
        </p:nvSpPr>
        <p:spPr>
          <a:xfrm>
            <a:off x="914580" y="914400"/>
            <a:ext cx="7314840" cy="158292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 dirty="0">
                <a:solidFill>
                  <a:srgbClr val="000000"/>
                </a:solidFill>
                <a:latin typeface="Calibri"/>
              </a:rPr>
              <a:t>static IP address - </a:t>
            </a:r>
            <a:r>
              <a:rPr lang="en-US" sz="4000" b="1" strike="noStrike" spc="-1" dirty="0" err="1">
                <a:solidFill>
                  <a:srgbClr val="000000"/>
                </a:solidFill>
                <a:latin typeface="Calibri"/>
              </a:rPr>
              <a:t>dirección</a:t>
            </a:r>
            <a:r>
              <a:rPr lang="en-US" sz="4000" b="1" strike="noStrike" spc="-1" dirty="0">
                <a:solidFill>
                  <a:srgbClr val="000000"/>
                </a:solidFill>
                <a:latin typeface="Calibri"/>
              </a:rPr>
              <a:t> IP </a:t>
            </a:r>
            <a:r>
              <a:rPr lang="en-US" sz="4000" b="1" strike="noStrike" spc="-1" dirty="0" err="1">
                <a:solidFill>
                  <a:srgbClr val="000000"/>
                </a:solidFill>
                <a:latin typeface="Calibri"/>
              </a:rPr>
              <a:t>estática</a:t>
            </a:r>
            <a:endParaRPr lang="es-E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914580" y="277164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Assign a static IP address.</a:t>
            </a:r>
            <a:br>
              <a:rPr sz="2800" dirty="0"/>
            </a:b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Asigna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una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dirección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IP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estática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914580" y="4263120"/>
            <a:ext cx="7314840" cy="1323439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An IP address that stays the same </a:t>
            </a:r>
            <a:endParaRPr lang="es-ES" dirty="0"/>
          </a:p>
          <a:p>
            <a:pPr algn="ctr">
              <a:defRPr sz="2000" b="1"/>
            </a:pPr>
            <a:r>
              <a:rPr dirty="0"/>
              <a:t>and does not change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133" grpId="0" animBg="1"/>
      <p:bldP spid="13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suspicious - sospechoso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Report any suspicious activity.</a:t>
            </a:r>
            <a:br>
              <a:rPr sz="2800" dirty="0"/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Informa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cualquier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actividad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sospechosa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783771" y="3653640"/>
            <a:ext cx="7445649" cy="1323439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Causing doubt or concern; seeming </a:t>
            </a:r>
            <a:endParaRPr lang="es-ES" dirty="0"/>
          </a:p>
          <a:p>
            <a:pPr algn="ctr">
              <a:defRPr sz="2000" b="1"/>
            </a:pPr>
            <a:r>
              <a:rPr dirty="0"/>
              <a:t>unsafe or dishonest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animBg="1"/>
      <p:bldP spid="136" grpId="0" animBg="1"/>
      <p:bldP spid="13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2"/>
          <p:cNvSpPr/>
          <p:nvPr/>
        </p:nvSpPr>
        <p:spPr>
          <a:xfrm>
            <a:off x="914580" y="914400"/>
            <a:ext cx="7314840" cy="158292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third-party tools - herramientas de terceros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914580" y="277164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Install third-party tools carefully.</a:t>
            </a:r>
            <a:br>
              <a:rPr sz="2800" dirty="0"/>
            </a:b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Instala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herramientas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de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terceros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con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cuidado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914580" y="4263120"/>
            <a:ext cx="7314839" cy="1323439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Tools or software made by another company, </a:t>
            </a:r>
            <a:endParaRPr lang="es-ES" dirty="0"/>
          </a:p>
          <a:p>
            <a:pPr algn="ctr">
              <a:defRPr sz="2000" b="1"/>
            </a:pPr>
            <a:r>
              <a:rPr dirty="0"/>
              <a:t>not the main provider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  <p:bldP spid="139" grpId="0" animBg="1"/>
      <p:bldP spid="14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transmission - transmisión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Data transmission was successful.</a:t>
            </a:r>
            <a:br>
              <a:rPr sz="2800" dirty="0"/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La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transmisión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de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datos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fue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exitosa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914580" y="3653640"/>
            <a:ext cx="7247228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The act of sending data from one place to another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  <p:bldP spid="142" grpId="0" animBg="1"/>
      <p:bldP spid="14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unfamiliar - desconocido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Do not trust unfamiliar sources.</a:t>
            </a:r>
            <a:br>
              <a:rPr sz="2800" dirty="0"/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No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confíes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en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fuentes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desconocidas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914580" y="3653640"/>
            <a:ext cx="7314839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Not known or recognized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 animBg="1"/>
      <p:bldP spid="145" grpId="0" animBg="1"/>
      <p:bldP spid="14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unique - único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000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Each password must be unique.</a:t>
            </a:r>
            <a:br>
              <a:rPr sz="2800" dirty="0"/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Cada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contraseña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debe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ser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única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914580" y="3653640"/>
            <a:ext cx="7314840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One of a kind; not the same as anything else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animBg="1"/>
      <p:bldP spid="148" grpId="0" animBg="1"/>
      <p:bldP spid="14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2"/>
          <p:cNvSpPr/>
          <p:nvPr/>
        </p:nvSpPr>
        <p:spPr>
          <a:xfrm>
            <a:off x="914580" y="914400"/>
            <a:ext cx="7314840" cy="973440"/>
          </a:xfrm>
          <a:prstGeom prst="rect">
            <a:avLst/>
          </a:prstGeom>
          <a:solidFill>
            <a:srgbClr val="FFB4C8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Calibri"/>
              </a:rPr>
              <a:t>user-friendly - fácil de usar</a:t>
            </a:r>
            <a:endParaRPr lang="es-E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3"/>
          <p:cNvSpPr/>
          <p:nvPr/>
        </p:nvSpPr>
        <p:spPr>
          <a:xfrm>
            <a:off x="914580" y="2162160"/>
            <a:ext cx="7314840" cy="1217160"/>
          </a:xfrm>
          <a:prstGeom prst="rect">
            <a:avLst/>
          </a:prstGeom>
          <a:solidFill>
            <a:srgbClr val="B4E6B4"/>
          </a:solidFill>
          <a:ln w="254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defRPr sz="2800" b="1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The interface is user-friendly.</a:t>
            </a:r>
            <a:br>
              <a:rPr sz="2800" dirty="0"/>
            </a:b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La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interfaz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es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fácil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 de usar.</a:t>
            </a:r>
            <a:endParaRPr lang="es-E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914580" y="3653640"/>
            <a:ext cx="7314840" cy="1015663"/>
          </a:xfrm>
          <a:prstGeom prst="rect">
            <a:avLst/>
          </a:prstGeom>
          <a:solidFill>
            <a:srgbClr val="F0C850"/>
          </a:solidFill>
          <a:ln w="254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ctr">
              <a:defRPr sz="2000" b="1"/>
            </a:pPr>
            <a:endParaRPr lang="es-ES" dirty="0"/>
          </a:p>
          <a:p>
            <a:pPr algn="ctr">
              <a:defRPr sz="2000" b="1"/>
            </a:pPr>
            <a:r>
              <a:rPr dirty="0"/>
              <a:t>Easy to use and understand</a:t>
            </a:r>
            <a:endParaRPr lang="es-ES" dirty="0"/>
          </a:p>
          <a:p>
            <a:pPr algn="ctr">
              <a:defRPr sz="2000" b="1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 animBg="1"/>
      <p:bldP spid="151" grpId="0" animBg="1"/>
      <p:bldP spid="15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668F79F-27BB-85CB-24EB-86B58F5E9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085" y="583345"/>
            <a:ext cx="7638505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br>
              <a:rPr lang="en-US" sz="6600" b="1" kern="1200" dirty="0">
                <a:latin typeface="+mj-lt"/>
                <a:ea typeface="+mj-ea"/>
                <a:cs typeface="+mj-cs"/>
              </a:rPr>
            </a:br>
            <a:r>
              <a:rPr lang="en-US" sz="6600" b="1" kern="1200" dirty="0">
                <a:latin typeface="+mj-lt"/>
                <a:ea typeface="+mj-ea"/>
                <a:cs typeface="+mj-cs"/>
              </a:rPr>
              <a:t>LET’S PRACTISE!!!</a:t>
            </a:r>
          </a:p>
        </p:txBody>
      </p:sp>
      <p:sp>
        <p:nvSpPr>
          <p:cNvPr id="11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769" y="583345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74854" y="8126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4114" y="1037066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4" name="Straight Connector 1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085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7318" y="5636680"/>
            <a:ext cx="113652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3881" y="6096759"/>
            <a:ext cx="81469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5716" y="6238029"/>
            <a:ext cx="7181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254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solidFill>
            <a:srgbClr val="FFB4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DO NOT SHARE YOUR __________ INFORMATION.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2377440" cy="914400"/>
          </a:xfrm>
          <a:prstGeom prst="rect">
            <a:avLst/>
          </a:prstGeom>
          <a:solidFill>
            <a:srgbClr val="FFC87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PERSONAL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926080"/>
            <a:ext cx="2377440" cy="914400"/>
          </a:xfrm>
          <a:prstGeom prst="rect">
            <a:avLst/>
          </a:prstGeom>
          <a:solidFill>
            <a:srgbClr val="B4E6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lang="es-ES" dirty="0"/>
              <a:t>SAFE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035040" y="2926080"/>
            <a:ext cx="2377440" cy="914400"/>
          </a:xfrm>
          <a:prstGeom prst="rect">
            <a:avLst/>
          </a:prstGeom>
          <a:solidFill>
            <a:srgbClr val="D2B4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UNIQUE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58CDBBF-7801-11FC-5C12-F789CF37C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795" y="4012747"/>
            <a:ext cx="628649" cy="628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solidFill>
            <a:srgbClr val="FFB4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THIS DOCUMENT IS __________ AND MUST BE PROTECTED.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2377440" cy="914400"/>
          </a:xfrm>
          <a:prstGeom prst="rect">
            <a:avLst/>
          </a:prstGeom>
          <a:solidFill>
            <a:srgbClr val="FFC87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UNIQUE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926080"/>
            <a:ext cx="2377440" cy="914400"/>
          </a:xfrm>
          <a:prstGeom prst="rect">
            <a:avLst/>
          </a:prstGeom>
          <a:solidFill>
            <a:srgbClr val="B4E6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SAFE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2926080"/>
            <a:ext cx="2377440" cy="914400"/>
          </a:xfrm>
          <a:prstGeom prst="rect">
            <a:avLst/>
          </a:prstGeom>
          <a:solidFill>
            <a:srgbClr val="D2B4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CONFIDENTIAL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E3A6B32-83F6-A062-2AF8-168F41441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104" y="4166235"/>
            <a:ext cx="628649" cy="628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solidFill>
            <a:srgbClr val="FFB4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ONLY __________ USERS CAN ENTER THE BUILDING.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2377440" cy="914400"/>
          </a:xfrm>
          <a:prstGeom prst="rect">
            <a:avLst/>
          </a:prstGeom>
          <a:solidFill>
            <a:srgbClr val="FFC87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OFFENSIVE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926080"/>
            <a:ext cx="2377440" cy="914400"/>
          </a:xfrm>
          <a:prstGeom prst="rect">
            <a:avLst/>
          </a:prstGeom>
          <a:solidFill>
            <a:srgbClr val="B4E6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UNFAMILIAR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2926080"/>
            <a:ext cx="2377440" cy="914400"/>
          </a:xfrm>
          <a:prstGeom prst="rect">
            <a:avLst/>
          </a:prstGeom>
          <a:solidFill>
            <a:srgbClr val="D2B4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AUTHORIZED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AD741C2-392C-3042-3EBC-B45ADC9FA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189" y="3943352"/>
            <a:ext cx="628649" cy="628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solidFill>
            <a:srgbClr val="FFB4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DELETE ALL __________ MAIL IMMEDIATELY.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2377440" cy="914400"/>
          </a:xfrm>
          <a:prstGeom prst="rect">
            <a:avLst/>
          </a:prstGeom>
          <a:solidFill>
            <a:srgbClr val="FFC87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JUNK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926080"/>
            <a:ext cx="2377440" cy="914400"/>
          </a:xfrm>
          <a:prstGeom prst="rect">
            <a:avLst/>
          </a:prstGeom>
          <a:solidFill>
            <a:srgbClr val="B4E6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2926080"/>
            <a:ext cx="2377440" cy="914400"/>
          </a:xfrm>
          <a:prstGeom prst="rect">
            <a:avLst/>
          </a:prstGeom>
          <a:solidFill>
            <a:srgbClr val="D2B4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OFFENSIVE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2E1F960-CF02-C754-31AA-CAD628C22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471" y="3980089"/>
            <a:ext cx="628649" cy="628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solidFill>
            <a:srgbClr val="FFB4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REPORT ANY __________ ACTIVITY.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2377440" cy="914400"/>
          </a:xfrm>
          <a:prstGeom prst="rect">
            <a:avLst/>
          </a:prstGeom>
          <a:solidFill>
            <a:srgbClr val="FFC87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SUSPICIOUS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926080"/>
            <a:ext cx="2377440" cy="914400"/>
          </a:xfrm>
          <a:prstGeom prst="rect">
            <a:avLst/>
          </a:prstGeom>
          <a:solidFill>
            <a:srgbClr val="B4E6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UNIQUE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2926080"/>
            <a:ext cx="2377440" cy="914400"/>
          </a:xfrm>
          <a:prstGeom prst="rect">
            <a:avLst/>
          </a:prstGeom>
          <a:solidFill>
            <a:srgbClr val="D2B4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REGULAR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CAD2748-2991-F336-94D8-105292B81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477" y="4012747"/>
            <a:ext cx="628649" cy="628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solidFill>
            <a:srgbClr val="FFB4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EACH PASSWORD MUST BE __________.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2377440" cy="914400"/>
          </a:xfrm>
          <a:prstGeom prst="rect">
            <a:avLst/>
          </a:prstGeom>
          <a:solidFill>
            <a:srgbClr val="FFC87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AUTHORIZED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926080"/>
            <a:ext cx="2377440" cy="914400"/>
          </a:xfrm>
          <a:prstGeom prst="rect">
            <a:avLst/>
          </a:prstGeom>
          <a:solidFill>
            <a:srgbClr val="B4E6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SAFE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2926080"/>
            <a:ext cx="2377440" cy="914400"/>
          </a:xfrm>
          <a:prstGeom prst="rect">
            <a:avLst/>
          </a:prstGeom>
          <a:solidFill>
            <a:srgbClr val="D2B4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UNIQUE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013CBB5-BDB3-EF8A-5040-38F84D069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9074" y="3980089"/>
            <a:ext cx="628649" cy="628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solidFill>
            <a:srgbClr val="FFB4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DO NOT TRUST __________ SOURCES.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2377440" cy="914400"/>
          </a:xfrm>
          <a:prstGeom prst="rect">
            <a:avLst/>
          </a:prstGeom>
          <a:solidFill>
            <a:srgbClr val="FFC87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SAFE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926080"/>
            <a:ext cx="2377440" cy="914400"/>
          </a:xfrm>
          <a:prstGeom prst="rect">
            <a:avLst/>
          </a:prstGeom>
          <a:solidFill>
            <a:srgbClr val="B4E6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AUTHORIZED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2926080"/>
            <a:ext cx="2377440" cy="914400"/>
          </a:xfrm>
          <a:prstGeom prst="rect">
            <a:avLst/>
          </a:prstGeom>
          <a:solidFill>
            <a:srgbClr val="D2B4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UNFAMILIAR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B02A634-5BCA-5951-3606-516941F02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675" y="3996418"/>
            <a:ext cx="628649" cy="628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solidFill>
            <a:srgbClr val="FFB4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THE FILE WAS __________ FOR SECURITY.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2377440" cy="914400"/>
          </a:xfrm>
          <a:prstGeom prst="rect">
            <a:avLst/>
          </a:prstGeom>
          <a:solidFill>
            <a:srgbClr val="FFC87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AUTHORIZED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926080"/>
            <a:ext cx="2377440" cy="914400"/>
          </a:xfrm>
          <a:prstGeom prst="rect">
            <a:avLst/>
          </a:prstGeom>
          <a:solidFill>
            <a:srgbClr val="B4E6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REPORTED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2926080"/>
            <a:ext cx="2377440" cy="914400"/>
          </a:xfrm>
          <a:prstGeom prst="rect">
            <a:avLst/>
          </a:prstGeom>
          <a:solidFill>
            <a:srgbClr val="D2B4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ENCRYPTED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D71673A-D5CE-C52E-48BE-A5B88238D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774" y="4166235"/>
            <a:ext cx="628649" cy="628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solidFill>
            <a:srgbClr val="FFB4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USE A PAPER __________ FOR CONFIDENTIAL DOCUMENTS.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2377440" cy="914400"/>
          </a:xfrm>
          <a:prstGeom prst="rect">
            <a:avLst/>
          </a:prstGeom>
          <a:solidFill>
            <a:srgbClr val="FFC87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ENTRANCE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926080"/>
            <a:ext cx="2377440" cy="914400"/>
          </a:xfrm>
          <a:prstGeom prst="rect">
            <a:avLst/>
          </a:prstGeom>
          <a:solidFill>
            <a:srgbClr val="B4E6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GENERATOR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2926080"/>
            <a:ext cx="2377440" cy="914400"/>
          </a:xfrm>
          <a:prstGeom prst="rect">
            <a:avLst/>
          </a:prstGeom>
          <a:solidFill>
            <a:srgbClr val="D2B4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dirty="0"/>
              <a:t>SHREDDER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892D365-9127-2A4D-34B5-4A05A29F5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1747" y="3996418"/>
            <a:ext cx="628649" cy="628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solidFill>
            <a:srgbClr val="FFB4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THE SYSTEM MUST BE UPDATED __________.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2377440" cy="914400"/>
          </a:xfrm>
          <a:prstGeom prst="rect">
            <a:avLst/>
          </a:prstGeom>
          <a:solidFill>
            <a:srgbClr val="FFC87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SAFE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926080"/>
            <a:ext cx="2377440" cy="914400"/>
          </a:xfrm>
          <a:prstGeom prst="rect">
            <a:avLst/>
          </a:prstGeom>
          <a:solidFill>
            <a:srgbClr val="B4E6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REGULARLY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2926080"/>
            <a:ext cx="2377440" cy="914400"/>
          </a:xfrm>
          <a:prstGeom prst="rect">
            <a:avLst/>
          </a:prstGeom>
          <a:solidFill>
            <a:srgbClr val="D2B4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UNIQUE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A56F8D2-4130-E861-8398-44EF8E5C3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675" y="3996418"/>
            <a:ext cx="628649" cy="628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305CD-9336-D95D-D1A7-12EEADACE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11CB7A-9C52-8880-C03E-0F4C5777C442}"/>
              </a:ext>
            </a:extLst>
          </p:cNvPr>
          <p:cNvSpPr/>
          <p:nvPr/>
        </p:nvSpPr>
        <p:spPr>
          <a:xfrm>
            <a:off x="731520" y="477077"/>
            <a:ext cx="7680960" cy="5526157"/>
          </a:xfrm>
          <a:prstGeom prst="rect">
            <a:avLst/>
          </a:prstGeom>
          <a:solidFill>
            <a:srgbClr val="FFC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rPr lang="es-ES" sz="8000" dirty="0"/>
              <a:t>THANKS FOR YOUR ATTENTION!!!</a:t>
            </a:r>
            <a:endParaRPr sz="8000" dirty="0"/>
          </a:p>
        </p:txBody>
      </p:sp>
    </p:spTree>
    <p:extLst>
      <p:ext uri="{BB962C8B-B14F-4D97-AF65-F5344CB8AC3E}">
        <p14:creationId xmlns:p14="http://schemas.microsoft.com/office/powerpoint/2010/main" val="290124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1012</Words>
  <Application>Microsoft Office PowerPoint</Application>
  <PresentationFormat>Presentación en pantalla (4:3)</PresentationFormat>
  <Paragraphs>270</Paragraphs>
  <Slides>50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50</vt:i4>
      </vt:variant>
    </vt:vector>
  </HeadingPairs>
  <TitlesOfParts>
    <vt:vector size="56" baseType="lpstr">
      <vt:lpstr>Arial</vt:lpstr>
      <vt:lpstr>Calibri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LET’S PRACTISE!!!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Usuario</dc:creator>
  <dc:description>generated using python-pptx</dc:description>
  <cp:lastModifiedBy>MONTSERRAT RODRÍGUEZ TORES</cp:lastModifiedBy>
  <cp:revision>7</cp:revision>
  <dcterms:created xsi:type="dcterms:W3CDTF">2013-01-27T09:14:16Z</dcterms:created>
  <dcterms:modified xsi:type="dcterms:W3CDTF">2026-01-11T16:10:12Z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